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37164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42014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16044649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0272309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8524545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61758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6198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088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7920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1960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20801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16973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691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22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008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9822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5645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4840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B1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766588" name="Shape 0"/>
          <p:cNvSpPr/>
          <p:nvPr/>
        </p:nvSpPr>
        <p:spPr bwMode="auto">
          <a:xfrm>
            <a:off x="0" y="5074920"/>
            <a:ext cx="12188952" cy="178308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80954908" name="Text 1"/>
          <p:cNvSpPr/>
          <p:nvPr/>
        </p:nvSpPr>
        <p:spPr bwMode="auto"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SOFTWARE ENGINEERING — PROJECT PROPOSAL</a:t>
            </a:r>
            <a:endParaRPr lang="en-US" sz="1200"/>
          </a:p>
        </p:txBody>
      </p:sp>
      <p:sp>
        <p:nvSpPr>
          <p:cNvPr id="1015056772" name="Text 2"/>
          <p:cNvSpPr/>
          <p:nvPr/>
        </p:nvSpPr>
        <p:spPr bwMode="auto">
          <a:xfrm>
            <a:off x="621792" y="86868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AI-Powered Smart Library</a:t>
            </a:r>
            <a:endParaRPr lang="en-US" sz="4000"/>
          </a:p>
          <a:p>
            <a:pPr marL="0" indent="0">
              <a:lnSpc>
                <a:spcPct val="105000"/>
              </a:lnSpc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Management System</a:t>
            </a:r>
            <a:endParaRPr lang="en-US" sz="4000"/>
          </a:p>
        </p:txBody>
      </p:sp>
      <p:sp>
        <p:nvSpPr>
          <p:cNvPr id="2032110830" name="Text 3"/>
          <p:cNvSpPr/>
          <p:nvPr/>
        </p:nvSpPr>
        <p:spPr bwMode="auto">
          <a:xfrm>
            <a:off x="640080" y="24505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i="1">
                <a:solidFill>
                  <a:srgbClr val="CFE8F3"/>
                </a:solidFill>
                <a:latin typeface="Calibri"/>
                <a:ea typeface="Calibri"/>
                <a:cs typeface="Calibri"/>
              </a:rPr>
              <a:t>A Full-Stack Intelligent Platform for Student, Resource &amp; Administrative Management</a:t>
            </a:r>
            <a:endParaRPr lang="en-US" sz="1550"/>
          </a:p>
        </p:txBody>
      </p:sp>
      <p:sp>
        <p:nvSpPr>
          <p:cNvPr id="2140049246" name="Shape 4"/>
          <p:cNvSpPr/>
          <p:nvPr/>
        </p:nvSpPr>
        <p:spPr bwMode="auto">
          <a:xfrm>
            <a:off x="640080" y="315468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13294B"/>
          </a:solidFill>
          <a:ln/>
        </p:spPr>
      </p:sp>
      <p:sp>
        <p:nvSpPr>
          <p:cNvPr id="752452644" name="Text 5"/>
          <p:cNvSpPr/>
          <p:nvPr/>
        </p:nvSpPr>
        <p:spPr bwMode="auto">
          <a:xfrm>
            <a:off x="822960" y="32461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Aradhya Goyal</a:t>
            </a:r>
            <a:endParaRPr lang="en-US" sz="1400"/>
          </a:p>
        </p:txBody>
      </p:sp>
      <p:sp>
        <p:nvSpPr>
          <p:cNvPr id="1527869055" name="Text 6"/>
          <p:cNvSpPr/>
          <p:nvPr/>
        </p:nvSpPr>
        <p:spPr bwMode="auto">
          <a:xfrm>
            <a:off x="822960" y="3575303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1024160135</a:t>
            </a:r>
            <a:endParaRPr lang="en-US" sz="1150"/>
          </a:p>
        </p:txBody>
      </p:sp>
      <p:sp>
        <p:nvSpPr>
          <p:cNvPr id="271563324" name="Shape 7"/>
          <p:cNvSpPr/>
          <p:nvPr/>
        </p:nvSpPr>
        <p:spPr bwMode="auto">
          <a:xfrm>
            <a:off x="4114800" y="315468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13294B"/>
          </a:solidFill>
          <a:ln/>
        </p:spPr>
      </p:sp>
      <p:sp>
        <p:nvSpPr>
          <p:cNvPr id="1578444158" name="Text 8"/>
          <p:cNvSpPr/>
          <p:nvPr/>
        </p:nvSpPr>
        <p:spPr bwMode="auto">
          <a:xfrm>
            <a:off x="4297680" y="32461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Amanjot Kaur Sidhu</a:t>
            </a:r>
            <a:endParaRPr lang="en-US" sz="1400"/>
          </a:p>
        </p:txBody>
      </p:sp>
      <p:sp>
        <p:nvSpPr>
          <p:cNvPr id="1723532181" name="Text 9"/>
          <p:cNvSpPr/>
          <p:nvPr/>
        </p:nvSpPr>
        <p:spPr bwMode="auto">
          <a:xfrm>
            <a:off x="4297680" y="3575303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1024160025</a:t>
            </a:r>
            <a:endParaRPr lang="en-US" sz="1150"/>
          </a:p>
        </p:txBody>
      </p:sp>
      <p:sp>
        <p:nvSpPr>
          <p:cNvPr id="1693405859" name="Shape 10"/>
          <p:cNvSpPr/>
          <p:nvPr/>
        </p:nvSpPr>
        <p:spPr bwMode="auto">
          <a:xfrm>
            <a:off x="7589520" y="315468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13294B"/>
          </a:solidFill>
          <a:ln/>
        </p:spPr>
      </p:sp>
      <p:sp>
        <p:nvSpPr>
          <p:cNvPr id="701061623" name="Text 11"/>
          <p:cNvSpPr/>
          <p:nvPr/>
        </p:nvSpPr>
        <p:spPr bwMode="auto">
          <a:xfrm>
            <a:off x="7772400" y="32461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Arnav Agarwal</a:t>
            </a:r>
            <a:endParaRPr lang="en-US" sz="1400"/>
          </a:p>
        </p:txBody>
      </p:sp>
      <p:sp>
        <p:nvSpPr>
          <p:cNvPr id="1318412997" name="Text 12"/>
          <p:cNvSpPr/>
          <p:nvPr/>
        </p:nvSpPr>
        <p:spPr bwMode="auto">
          <a:xfrm>
            <a:off x="7772400" y="3575303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1024160010</a:t>
            </a:r>
            <a:endParaRPr lang="en-US" sz="1150"/>
          </a:p>
        </p:txBody>
      </p:sp>
      <p:sp>
        <p:nvSpPr>
          <p:cNvPr id="1466031605" name="Text 13"/>
          <p:cNvSpPr/>
          <p:nvPr/>
        </p:nvSpPr>
        <p:spPr bwMode="auto">
          <a:xfrm>
            <a:off x="640080" y="4160519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CFE8F3"/>
                </a:solidFill>
                <a:latin typeface="Calibri"/>
                <a:ea typeface="Calibri"/>
                <a:cs typeface="Calibri"/>
              </a:rPr>
              <a:t>Universities manage large volumes of student, resource, borrowing, and administrative data. Traditional systems store and retrieve information but demand heavy manual effort for repetitive tasks and decisions. This project proposes a full-stack Smart Library Management System combining student &amp; resource management, automated administrative workflows, AI agents for intelligent interaction, proactive monitoring, and data-driven analytics.</a:t>
            </a:r>
            <a:endParaRPr lang="en-US" sz="1150"/>
          </a:p>
        </p:txBody>
      </p:sp>
      <p:sp>
        <p:nvSpPr>
          <p:cNvPr id="1103184118" name="Shape 14"/>
          <p:cNvSpPr/>
          <p:nvPr/>
        </p:nvSpPr>
        <p:spPr bwMode="auto">
          <a:xfrm>
            <a:off x="777240" y="544068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</p:sp>
      <p:pic>
        <p:nvPicPr>
          <p:cNvPr id="1708036909" name="Image 0" descr="/home/claude/proj/icons/users_tea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408" y="5705856"/>
            <a:ext cx="530352" cy="530352"/>
          </a:xfrm>
          <a:prstGeom prst="rect">
            <a:avLst/>
          </a:prstGeom>
        </p:spPr>
      </p:pic>
      <p:sp>
        <p:nvSpPr>
          <p:cNvPr id="992198907" name="Text 15"/>
          <p:cNvSpPr/>
          <p:nvPr/>
        </p:nvSpPr>
        <p:spPr bwMode="auto">
          <a:xfrm>
            <a:off x="1600200" y="5440680"/>
            <a:ext cx="15087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Students &amp;</a:t>
            </a:r>
            <a:endParaRPr lang="en-US" sz="1250"/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Admins</a:t>
            </a:r>
            <a:endParaRPr lang="en-US" sz="1250"/>
          </a:p>
        </p:txBody>
      </p:sp>
      <p:sp>
        <p:nvSpPr>
          <p:cNvPr id="1827104906" name="Shape 16"/>
          <p:cNvSpPr/>
          <p:nvPr/>
        </p:nvSpPr>
        <p:spPr bwMode="auto">
          <a:xfrm>
            <a:off x="4709160" y="544068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</p:sp>
      <p:pic>
        <p:nvPicPr>
          <p:cNvPr id="1959646172" name="Image 1" descr="/home/claude/proj/icons/layers_teal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910328" y="5705856"/>
            <a:ext cx="530352" cy="530352"/>
          </a:xfrm>
          <a:prstGeom prst="rect">
            <a:avLst/>
          </a:prstGeom>
        </p:spPr>
      </p:pic>
      <p:sp>
        <p:nvSpPr>
          <p:cNvPr id="437751629" name="Text 17"/>
          <p:cNvSpPr/>
          <p:nvPr/>
        </p:nvSpPr>
        <p:spPr bwMode="auto">
          <a:xfrm>
            <a:off x="5532120" y="544068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Smart Library</a:t>
            </a:r>
            <a:endParaRPr lang="en-US" sz="1250"/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Platform</a:t>
            </a:r>
            <a:endParaRPr lang="en-US" sz="1250"/>
          </a:p>
        </p:txBody>
      </p:sp>
      <p:sp>
        <p:nvSpPr>
          <p:cNvPr id="302822927" name="Shape 18"/>
          <p:cNvSpPr/>
          <p:nvPr/>
        </p:nvSpPr>
        <p:spPr bwMode="auto">
          <a:xfrm>
            <a:off x="8778240" y="544068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</p:sp>
      <p:pic>
        <p:nvPicPr>
          <p:cNvPr id="122728027" name="Image 2" descr="/home/claude/proj/icons/brain_teal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979408" y="5705856"/>
            <a:ext cx="530352" cy="530352"/>
          </a:xfrm>
          <a:prstGeom prst="rect">
            <a:avLst/>
          </a:prstGeom>
        </p:spPr>
      </p:pic>
      <p:sp>
        <p:nvSpPr>
          <p:cNvPr id="217960375" name="Text 19"/>
          <p:cNvSpPr/>
          <p:nvPr/>
        </p:nvSpPr>
        <p:spPr bwMode="auto">
          <a:xfrm>
            <a:off x="9601200" y="544068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AI Agents +</a:t>
            </a:r>
            <a:endParaRPr lang="en-US" sz="1250"/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Database</a:t>
            </a:r>
            <a:endParaRPr lang="en-US" sz="1250"/>
          </a:p>
        </p:txBody>
      </p:sp>
      <p:sp>
        <p:nvSpPr>
          <p:cNvPr id="1358710045" name="Shape 20"/>
          <p:cNvSpPr/>
          <p:nvPr/>
        </p:nvSpPr>
        <p:spPr bwMode="auto">
          <a:xfrm>
            <a:off x="3246120" y="5884164"/>
            <a:ext cx="1463040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4D8"/>
          </a:solidFill>
          <a:ln/>
        </p:spPr>
      </p:sp>
      <p:sp>
        <p:nvSpPr>
          <p:cNvPr id="1940716581" name="Shape 21"/>
          <p:cNvSpPr/>
          <p:nvPr/>
        </p:nvSpPr>
        <p:spPr bwMode="auto">
          <a:xfrm>
            <a:off x="7360920" y="5884164"/>
            <a:ext cx="1417320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4D8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5F9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511799" name="Text 0"/>
          <p:cNvSpPr/>
          <p:nvPr/>
        </p:nvSpPr>
        <p:spPr bwMode="auto"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Why Do We Need a Smart Library System?</a:t>
            </a:r>
            <a:endParaRPr lang="en-US" sz="2800"/>
          </a:p>
        </p:txBody>
      </p:sp>
      <p:sp>
        <p:nvSpPr>
          <p:cNvPr id="1322622793" name="Text 1"/>
          <p:cNvSpPr/>
          <p:nvPr/>
        </p:nvSpPr>
        <p:spPr bwMode="auto">
          <a:xfrm>
            <a:off x="566928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Limitations of conventional campus management systems</a:t>
            </a:r>
            <a:endParaRPr lang="en-US" sz="1300"/>
          </a:p>
        </p:txBody>
      </p:sp>
      <p:sp>
        <p:nvSpPr>
          <p:cNvPr id="1610394007" name="Shape 2"/>
          <p:cNvSpPr/>
          <p:nvPr/>
        </p:nvSpPr>
        <p:spPr bwMode="auto">
          <a:xfrm>
            <a:off x="566928" y="146304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049616239" name="Image 0" descr="/home/claude/proj/icons/upload_tea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2084" y="1577340"/>
            <a:ext cx="274320" cy="274320"/>
          </a:xfrm>
          <a:prstGeom prst="rect">
            <a:avLst/>
          </a:prstGeom>
        </p:spPr>
      </p:pic>
      <p:sp>
        <p:nvSpPr>
          <p:cNvPr id="366718224" name="Text 3"/>
          <p:cNvSpPr/>
          <p:nvPr/>
        </p:nvSpPr>
        <p:spPr bwMode="auto">
          <a:xfrm>
            <a:off x="1234440" y="1399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Manual Data Entry</a:t>
            </a:r>
            <a:endParaRPr lang="en-US" sz="1350"/>
          </a:p>
        </p:txBody>
      </p:sp>
      <p:sp>
        <p:nvSpPr>
          <p:cNvPr id="577477364" name="Text 4"/>
          <p:cNvSpPr/>
          <p:nvPr/>
        </p:nvSpPr>
        <p:spPr bwMode="auto">
          <a:xfrm>
            <a:off x="1234440" y="169164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Large student batches and records require repetitive administrative work.</a:t>
            </a:r>
            <a:endParaRPr lang="en-US" sz="1050"/>
          </a:p>
        </p:txBody>
      </p:sp>
      <p:sp>
        <p:nvSpPr>
          <p:cNvPr id="1452699490" name="Shape 5"/>
          <p:cNvSpPr/>
          <p:nvPr/>
        </p:nvSpPr>
        <p:spPr bwMode="auto">
          <a:xfrm>
            <a:off x="566928" y="2304288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16595611" name="Image 1" descr="/home/claude/proj/icons/network_teal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72084" y="2418588"/>
            <a:ext cx="274320" cy="274320"/>
          </a:xfrm>
          <a:prstGeom prst="rect">
            <a:avLst/>
          </a:prstGeom>
        </p:spPr>
      </p:pic>
      <p:sp>
        <p:nvSpPr>
          <p:cNvPr id="594071176" name="Text 6"/>
          <p:cNvSpPr/>
          <p:nvPr/>
        </p:nvSpPr>
        <p:spPr bwMode="auto">
          <a:xfrm>
            <a:off x="1234440" y="2240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Fragmented Information</a:t>
            </a:r>
            <a:endParaRPr lang="en-US" sz="1350"/>
          </a:p>
        </p:txBody>
      </p:sp>
      <p:sp>
        <p:nvSpPr>
          <p:cNvPr id="2132182689" name="Text 7"/>
          <p:cNvSpPr/>
          <p:nvPr/>
        </p:nvSpPr>
        <p:spPr bwMode="auto">
          <a:xfrm>
            <a:off x="1234440" y="253288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Student, asset, borrowing, fine, and resource data live apart, hard to manage together.</a:t>
            </a:r>
            <a:endParaRPr lang="en-US" sz="1050"/>
          </a:p>
        </p:txBody>
      </p:sp>
      <p:sp>
        <p:nvSpPr>
          <p:cNvPr id="279558567" name="Shape 8"/>
          <p:cNvSpPr/>
          <p:nvPr/>
        </p:nvSpPr>
        <p:spPr bwMode="auto">
          <a:xfrm>
            <a:off x="566928" y="3145536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526944593" name="Image 2" descr="/home/claude/proj/icons/alert_teal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72084" y="3259836"/>
            <a:ext cx="274320" cy="274320"/>
          </a:xfrm>
          <a:prstGeom prst="rect">
            <a:avLst/>
          </a:prstGeom>
        </p:spPr>
      </p:pic>
      <p:sp>
        <p:nvSpPr>
          <p:cNvPr id="1206225088" name="Text 9"/>
          <p:cNvSpPr/>
          <p:nvPr/>
        </p:nvSpPr>
        <p:spPr bwMode="auto">
          <a:xfrm>
            <a:off x="1234440" y="30815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Reactive Management</a:t>
            </a:r>
            <a:endParaRPr lang="en-US" sz="1350"/>
          </a:p>
        </p:txBody>
      </p:sp>
      <p:sp>
        <p:nvSpPr>
          <p:cNvPr id="1259768418" name="Text 10"/>
          <p:cNvSpPr/>
          <p:nvPr/>
        </p:nvSpPr>
        <p:spPr bwMode="auto">
          <a:xfrm>
            <a:off x="1234440" y="337413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Overdue resources and shortages are usually discovered only after manual checks.</a:t>
            </a:r>
            <a:endParaRPr lang="en-US" sz="1050"/>
          </a:p>
        </p:txBody>
      </p:sp>
      <p:sp>
        <p:nvSpPr>
          <p:cNvPr id="776911952" name="Shape 11"/>
          <p:cNvSpPr/>
          <p:nvPr/>
        </p:nvSpPr>
        <p:spPr bwMode="auto">
          <a:xfrm>
            <a:off x="566928" y="3986784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2319273" name="Image 3" descr="/home/claude/proj/icons/search_teal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72084" y="4101084"/>
            <a:ext cx="274320" cy="274320"/>
          </a:xfrm>
          <a:prstGeom prst="rect">
            <a:avLst/>
          </a:prstGeom>
        </p:spPr>
      </p:pic>
      <p:sp>
        <p:nvSpPr>
          <p:cNvPr id="174071940" name="Text 12"/>
          <p:cNvSpPr/>
          <p:nvPr/>
        </p:nvSpPr>
        <p:spPr bwMode="auto">
          <a:xfrm>
            <a:off x="1234440" y="39227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Limited Personalization</a:t>
            </a:r>
            <a:endParaRPr lang="en-US" sz="1350"/>
          </a:p>
        </p:txBody>
      </p:sp>
      <p:sp>
        <p:nvSpPr>
          <p:cNvPr id="1130775528" name="Text 13"/>
          <p:cNvSpPr/>
          <p:nvPr/>
        </p:nvSpPr>
        <p:spPr bwMode="auto">
          <a:xfrm>
            <a:off x="1234440" y="421538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Students manually search for resources instead of getting intelligent recommendations.</a:t>
            </a:r>
            <a:endParaRPr lang="en-US" sz="1050"/>
          </a:p>
        </p:txBody>
      </p:sp>
      <p:sp>
        <p:nvSpPr>
          <p:cNvPr id="773672272" name="Shape 14"/>
          <p:cNvSpPr/>
          <p:nvPr/>
        </p:nvSpPr>
        <p:spPr bwMode="auto">
          <a:xfrm>
            <a:off x="566928" y="4828032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477211167" name="Image 4" descr="/home/claude/proj/icons/database_teal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72084" y="4942332"/>
            <a:ext cx="274320" cy="274320"/>
          </a:xfrm>
          <a:prstGeom prst="rect">
            <a:avLst/>
          </a:prstGeom>
        </p:spPr>
      </p:pic>
      <p:sp>
        <p:nvSpPr>
          <p:cNvPr id="1979803237" name="Text 15"/>
          <p:cNvSpPr/>
          <p:nvPr/>
        </p:nvSpPr>
        <p:spPr bwMode="auto">
          <a:xfrm>
            <a:off x="1234440" y="4764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Data Without Intelligence</a:t>
            </a:r>
            <a:endParaRPr lang="en-US" sz="1350"/>
          </a:p>
        </p:txBody>
      </p:sp>
      <p:sp>
        <p:nvSpPr>
          <p:cNvPr id="1619421437" name="Text 16"/>
          <p:cNvSpPr/>
          <p:nvPr/>
        </p:nvSpPr>
        <p:spPr bwMode="auto">
          <a:xfrm>
            <a:off x="1234440" y="50566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Databases store information but do not automatically turn it into insights or decisions.</a:t>
            </a:r>
            <a:endParaRPr lang="en-US" sz="1050"/>
          </a:p>
        </p:txBody>
      </p:sp>
      <p:sp>
        <p:nvSpPr>
          <p:cNvPr id="1112347340" name="Shape 17"/>
          <p:cNvSpPr/>
          <p:nvPr/>
        </p:nvSpPr>
        <p:spPr bwMode="auto">
          <a:xfrm>
            <a:off x="6720840" y="1417320"/>
            <a:ext cx="4892039" cy="4206240"/>
          </a:xfrm>
          <a:prstGeom prst="roundRect">
            <a:avLst>
              <a:gd name="adj" fmla="val 2174"/>
            </a:avLst>
          </a:prstGeom>
          <a:solidFill>
            <a:srgbClr val="0B1F3A"/>
          </a:solidFill>
          <a:ln/>
        </p:spPr>
      </p:sp>
      <p:sp>
        <p:nvSpPr>
          <p:cNvPr id="507264827" name="Text 18"/>
          <p:cNvSpPr/>
          <p:nvPr/>
        </p:nvSpPr>
        <p:spPr bwMode="auto">
          <a:xfrm>
            <a:off x="7040880" y="167335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5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TRADITIONAL vs SMART</a:t>
            </a:r>
            <a:endParaRPr lang="en-US" sz="1200"/>
          </a:p>
        </p:txBody>
      </p:sp>
      <p:sp>
        <p:nvSpPr>
          <p:cNvPr id="1427830510" name="Text 19"/>
          <p:cNvSpPr/>
          <p:nvPr/>
        </p:nvSpPr>
        <p:spPr bwMode="auto">
          <a:xfrm>
            <a:off x="7040880" y="203911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Traditional System</a:t>
            </a:r>
            <a:endParaRPr lang="en-US" sz="1250"/>
          </a:p>
        </p:txBody>
      </p:sp>
      <p:sp>
        <p:nvSpPr>
          <p:cNvPr id="260808189" name="Shape 20"/>
          <p:cNvSpPr/>
          <p:nvPr/>
        </p:nvSpPr>
        <p:spPr bwMode="auto">
          <a:xfrm>
            <a:off x="7040880" y="2350008"/>
            <a:ext cx="4251960" cy="338328"/>
          </a:xfrm>
          <a:prstGeom prst="roundRect">
            <a:avLst>
              <a:gd name="adj" fmla="val 16216"/>
            </a:avLst>
          </a:prstGeom>
          <a:solidFill>
            <a:srgbClr val="13294B"/>
          </a:solidFill>
          <a:ln w="12700">
            <a:prstDash val="solid"/>
          </a:ln>
        </p:spPr>
      </p:sp>
      <p:sp>
        <p:nvSpPr>
          <p:cNvPr id="678253433" name="Text 21"/>
          <p:cNvSpPr/>
          <p:nvPr/>
        </p:nvSpPr>
        <p:spPr bwMode="auto">
          <a:xfrm>
            <a:off x="7040880" y="2350008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Manual</a:t>
            </a:r>
            <a:endParaRPr lang="en-US" sz="1150"/>
          </a:p>
        </p:txBody>
      </p:sp>
      <p:sp>
        <p:nvSpPr>
          <p:cNvPr id="2063263984" name="Text 22"/>
          <p:cNvSpPr/>
          <p:nvPr/>
        </p:nvSpPr>
        <p:spPr bwMode="auto">
          <a:xfrm>
            <a:off x="7040880" y="2688336"/>
            <a:ext cx="4251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A6B7B"/>
                </a:solidFill>
              </a:rPr>
              <a:t>↓</a:t>
            </a:r>
            <a:endParaRPr lang="en-US" sz="1100"/>
          </a:p>
        </p:txBody>
      </p:sp>
      <p:sp>
        <p:nvSpPr>
          <p:cNvPr id="1378748263" name="Shape 23"/>
          <p:cNvSpPr/>
          <p:nvPr/>
        </p:nvSpPr>
        <p:spPr bwMode="auto">
          <a:xfrm>
            <a:off x="7040880" y="2825496"/>
            <a:ext cx="4251960" cy="338328"/>
          </a:xfrm>
          <a:prstGeom prst="roundRect">
            <a:avLst>
              <a:gd name="adj" fmla="val 16216"/>
            </a:avLst>
          </a:prstGeom>
          <a:solidFill>
            <a:srgbClr val="13294B"/>
          </a:solidFill>
          <a:ln w="12700">
            <a:prstDash val="solid"/>
          </a:ln>
        </p:spPr>
      </p:sp>
      <p:sp>
        <p:nvSpPr>
          <p:cNvPr id="1946828762" name="Text 24"/>
          <p:cNvSpPr/>
          <p:nvPr/>
        </p:nvSpPr>
        <p:spPr bwMode="auto">
          <a:xfrm>
            <a:off x="7040880" y="2825496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Reactive</a:t>
            </a:r>
            <a:endParaRPr lang="en-US" sz="1150"/>
          </a:p>
        </p:txBody>
      </p:sp>
      <p:sp>
        <p:nvSpPr>
          <p:cNvPr id="1978637395" name="Text 25"/>
          <p:cNvSpPr/>
          <p:nvPr/>
        </p:nvSpPr>
        <p:spPr bwMode="auto">
          <a:xfrm>
            <a:off x="7040880" y="3163824"/>
            <a:ext cx="4251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A6B7B"/>
                </a:solidFill>
              </a:rPr>
              <a:t>↓</a:t>
            </a:r>
            <a:endParaRPr lang="en-US" sz="1100"/>
          </a:p>
        </p:txBody>
      </p:sp>
      <p:sp>
        <p:nvSpPr>
          <p:cNvPr id="12025785" name="Shape 26"/>
          <p:cNvSpPr/>
          <p:nvPr/>
        </p:nvSpPr>
        <p:spPr bwMode="auto">
          <a:xfrm>
            <a:off x="7040880" y="3300984"/>
            <a:ext cx="4251960" cy="338328"/>
          </a:xfrm>
          <a:prstGeom prst="roundRect">
            <a:avLst>
              <a:gd name="adj" fmla="val 16216"/>
            </a:avLst>
          </a:prstGeom>
          <a:solidFill>
            <a:srgbClr val="13294B"/>
          </a:solidFill>
          <a:ln w="12700">
            <a:prstDash val="solid"/>
          </a:ln>
        </p:spPr>
      </p:sp>
      <p:sp>
        <p:nvSpPr>
          <p:cNvPr id="626299299" name="Text 27"/>
          <p:cNvSpPr/>
          <p:nvPr/>
        </p:nvSpPr>
        <p:spPr bwMode="auto">
          <a:xfrm>
            <a:off x="7040880" y="3300984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Storage</a:t>
            </a:r>
            <a:endParaRPr lang="en-US" sz="1150"/>
          </a:p>
        </p:txBody>
      </p:sp>
      <p:sp>
        <p:nvSpPr>
          <p:cNvPr id="715699469" name="Text 28"/>
          <p:cNvSpPr/>
          <p:nvPr/>
        </p:nvSpPr>
        <p:spPr bwMode="auto">
          <a:xfrm>
            <a:off x="7040880" y="3675888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i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↓  transforms into  ↓</a:t>
            </a:r>
            <a:endParaRPr lang="en-US" sz="1050"/>
          </a:p>
        </p:txBody>
      </p:sp>
      <p:sp>
        <p:nvSpPr>
          <p:cNvPr id="151761889" name="Text 29"/>
          <p:cNvSpPr/>
          <p:nvPr/>
        </p:nvSpPr>
        <p:spPr bwMode="auto">
          <a:xfrm>
            <a:off x="7040880" y="39319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Smart System</a:t>
            </a:r>
            <a:endParaRPr lang="en-US" sz="1250"/>
          </a:p>
        </p:txBody>
      </p:sp>
      <p:sp>
        <p:nvSpPr>
          <p:cNvPr id="815000532" name="Shape 30"/>
          <p:cNvSpPr/>
          <p:nvPr/>
        </p:nvSpPr>
        <p:spPr bwMode="auto">
          <a:xfrm>
            <a:off x="7040880" y="4242816"/>
            <a:ext cx="4251960" cy="338328"/>
          </a:xfrm>
          <a:prstGeom prst="roundRect">
            <a:avLst>
              <a:gd name="adj" fmla="val 16216"/>
            </a:avLst>
          </a:prstGeom>
          <a:solidFill>
            <a:srgbClr val="13294B"/>
          </a:solidFill>
          <a:ln w="12700">
            <a:prstDash val="solid"/>
          </a:ln>
        </p:spPr>
      </p:sp>
      <p:sp>
        <p:nvSpPr>
          <p:cNvPr id="1730704027" name="Text 31"/>
          <p:cNvSpPr/>
          <p:nvPr/>
        </p:nvSpPr>
        <p:spPr bwMode="auto">
          <a:xfrm>
            <a:off x="7040880" y="4242816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Automated</a:t>
            </a:r>
            <a:endParaRPr lang="en-US" sz="1150"/>
          </a:p>
        </p:txBody>
      </p:sp>
      <p:sp>
        <p:nvSpPr>
          <p:cNvPr id="1011516391" name="Text 32"/>
          <p:cNvSpPr/>
          <p:nvPr/>
        </p:nvSpPr>
        <p:spPr bwMode="auto">
          <a:xfrm>
            <a:off x="7040880" y="4581144"/>
            <a:ext cx="4251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00B4D8"/>
                </a:solidFill>
              </a:rPr>
              <a:t>↓</a:t>
            </a:r>
            <a:endParaRPr lang="en-US" sz="1100"/>
          </a:p>
        </p:txBody>
      </p:sp>
      <p:sp>
        <p:nvSpPr>
          <p:cNvPr id="240979750" name="Shape 33"/>
          <p:cNvSpPr/>
          <p:nvPr/>
        </p:nvSpPr>
        <p:spPr bwMode="auto">
          <a:xfrm>
            <a:off x="7040880" y="4718304"/>
            <a:ext cx="4251960" cy="338328"/>
          </a:xfrm>
          <a:prstGeom prst="roundRect">
            <a:avLst>
              <a:gd name="adj" fmla="val 16216"/>
            </a:avLst>
          </a:prstGeom>
          <a:solidFill>
            <a:srgbClr val="13294B"/>
          </a:solidFill>
          <a:ln w="12700">
            <a:prstDash val="solid"/>
          </a:ln>
        </p:spPr>
      </p:sp>
      <p:sp>
        <p:nvSpPr>
          <p:cNvPr id="453376572" name="Text 34"/>
          <p:cNvSpPr/>
          <p:nvPr/>
        </p:nvSpPr>
        <p:spPr bwMode="auto">
          <a:xfrm>
            <a:off x="7040880" y="4718304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Proactive</a:t>
            </a:r>
            <a:endParaRPr lang="en-US" sz="1150"/>
          </a:p>
        </p:txBody>
      </p:sp>
      <p:sp>
        <p:nvSpPr>
          <p:cNvPr id="1604409343" name="Text 35"/>
          <p:cNvSpPr/>
          <p:nvPr/>
        </p:nvSpPr>
        <p:spPr bwMode="auto">
          <a:xfrm>
            <a:off x="7040880" y="5056632"/>
            <a:ext cx="4251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00B4D8"/>
                </a:solidFill>
              </a:rPr>
              <a:t>↓</a:t>
            </a:r>
            <a:endParaRPr lang="en-US" sz="1100"/>
          </a:p>
        </p:txBody>
      </p:sp>
      <p:sp>
        <p:nvSpPr>
          <p:cNvPr id="1471085603" name="Shape 36"/>
          <p:cNvSpPr/>
          <p:nvPr/>
        </p:nvSpPr>
        <p:spPr bwMode="auto">
          <a:xfrm>
            <a:off x="7040880" y="5193792"/>
            <a:ext cx="4251960" cy="338328"/>
          </a:xfrm>
          <a:prstGeom prst="roundRect">
            <a:avLst>
              <a:gd name="adj" fmla="val 16216"/>
            </a:avLst>
          </a:prstGeom>
          <a:solidFill>
            <a:srgbClr val="13294B"/>
          </a:solidFill>
          <a:ln w="12700">
            <a:prstDash val="solid"/>
          </a:ln>
        </p:spPr>
      </p:sp>
      <p:sp>
        <p:nvSpPr>
          <p:cNvPr id="1918235492" name="Text 37"/>
          <p:cNvSpPr/>
          <p:nvPr/>
        </p:nvSpPr>
        <p:spPr bwMode="auto">
          <a:xfrm>
            <a:off x="7040880" y="5193792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Intelligent Decisions</a:t>
            </a:r>
            <a:endParaRPr lang="en-US" sz="1150"/>
          </a:p>
        </p:txBody>
      </p:sp>
      <p:sp>
        <p:nvSpPr>
          <p:cNvPr id="1187628007" name="Shape 38"/>
          <p:cNvSpPr/>
          <p:nvPr/>
        </p:nvSpPr>
        <p:spPr bwMode="auto"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CFE8F3"/>
          </a:solidFill>
          <a:ln/>
        </p:spPr>
      </p:sp>
      <p:sp>
        <p:nvSpPr>
          <p:cNvPr id="621858049" name="Text 39"/>
          <p:cNvSpPr/>
          <p:nvPr/>
        </p:nvSpPr>
        <p:spPr bwMode="auto"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Key message:  </a:t>
            </a:r>
            <a:r>
              <a:rPr lang="en-US" sz="1300" i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The goal is not just to digitize campus management, but to make it intelligent, proactive, and automated.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5F9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379568" name="Text 0"/>
          <p:cNvSpPr/>
          <p:nvPr/>
        </p:nvSpPr>
        <p:spPr bwMode="auto"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Problem Statement</a:t>
            </a:r>
            <a:endParaRPr lang="en-US" sz="2800"/>
          </a:p>
        </p:txBody>
      </p:sp>
      <p:sp>
        <p:nvSpPr>
          <p:cNvPr id="366837543" name="Text 1"/>
          <p:cNvSpPr/>
          <p:nvPr/>
        </p:nvSpPr>
        <p:spPr bwMode="auto">
          <a:xfrm>
            <a:off x="566928" y="896112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100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Universities continuously manage changing student &amp; resource data while handling repetitive tasks: onboarding, asset management, borrowing/returns, overdue tracking, fines, notifications, and reporting. Existing systems mostly provide basic CRUD operations, leaving these tasks manual.</a:t>
            </a:r>
            <a:endParaRPr lang="en-US" sz="1100"/>
          </a:p>
        </p:txBody>
      </p:sp>
      <p:sp>
        <p:nvSpPr>
          <p:cNvPr id="1009389297" name="Shape 2"/>
          <p:cNvSpPr/>
          <p:nvPr/>
        </p:nvSpPr>
        <p:spPr bwMode="auto">
          <a:xfrm>
            <a:off x="548640" y="2011680"/>
            <a:ext cx="6035039" cy="1600200"/>
          </a:xfrm>
          <a:prstGeom prst="roundRect">
            <a:avLst>
              <a:gd name="adj" fmla="val 5714"/>
            </a:avLst>
          </a:prstGeom>
          <a:solidFill>
            <a:srgbClr val="0B1F3A"/>
          </a:solidFill>
          <a:ln/>
        </p:spPr>
      </p:sp>
      <p:sp>
        <p:nvSpPr>
          <p:cNvPr id="1631496781" name="Text 3"/>
          <p:cNvSpPr/>
          <p:nvPr/>
        </p:nvSpPr>
        <p:spPr bwMode="auto">
          <a:xfrm>
            <a:off x="777240" y="2121408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25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How can we build a full-stack campus management system that uses AI agents to automate routine workflows, assist students and administrators, monitor resources proactively, and generate actionable insights from campus data?</a:t>
            </a:r>
            <a:endParaRPr lang="en-US" sz="1250"/>
          </a:p>
        </p:txBody>
      </p:sp>
      <p:sp>
        <p:nvSpPr>
          <p:cNvPr id="1380955492" name="Text 4"/>
          <p:cNvSpPr/>
          <p:nvPr/>
        </p:nvSpPr>
        <p:spPr bwMode="auto">
          <a:xfrm>
            <a:off x="566928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5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KEY CHALLENGES</a:t>
            </a:r>
            <a:endParaRPr lang="en-US" sz="1200"/>
          </a:p>
        </p:txBody>
      </p:sp>
      <p:sp>
        <p:nvSpPr>
          <p:cNvPr id="379788533" name="Shape 5"/>
          <p:cNvSpPr/>
          <p:nvPr/>
        </p:nvSpPr>
        <p:spPr bwMode="auto">
          <a:xfrm>
            <a:off x="566928" y="4114800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89234155" name="Text 6"/>
          <p:cNvSpPr/>
          <p:nvPr/>
        </p:nvSpPr>
        <p:spPr bwMode="auto">
          <a:xfrm>
            <a:off x="566928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1</a:t>
            </a:r>
            <a:endParaRPr lang="en-US" sz="1200"/>
          </a:p>
        </p:txBody>
      </p:sp>
      <p:sp>
        <p:nvSpPr>
          <p:cNvPr id="572287568" name="Text 7"/>
          <p:cNvSpPr/>
          <p:nvPr/>
        </p:nvSpPr>
        <p:spPr bwMode="auto">
          <a:xfrm>
            <a:off x="987552" y="409651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Efficiently onboard large batches of students</a:t>
            </a:r>
            <a:endParaRPr lang="en-US" sz="1150"/>
          </a:p>
        </p:txBody>
      </p:sp>
      <p:sp>
        <p:nvSpPr>
          <p:cNvPr id="213980041" name="Shape 8"/>
          <p:cNvSpPr/>
          <p:nvPr/>
        </p:nvSpPr>
        <p:spPr bwMode="auto">
          <a:xfrm>
            <a:off x="566928" y="4517136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65545924" name="Text 9"/>
          <p:cNvSpPr/>
          <p:nvPr/>
        </p:nvSpPr>
        <p:spPr bwMode="auto">
          <a:xfrm>
            <a:off x="566928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2</a:t>
            </a:r>
            <a:endParaRPr lang="en-US" sz="1200"/>
          </a:p>
        </p:txBody>
      </p:sp>
      <p:sp>
        <p:nvSpPr>
          <p:cNvPr id="711056960" name="Text 10"/>
          <p:cNvSpPr/>
          <p:nvPr/>
        </p:nvSpPr>
        <p:spPr bwMode="auto">
          <a:xfrm>
            <a:off x="987552" y="449884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Manage and monitor campus resources</a:t>
            </a:r>
            <a:endParaRPr lang="en-US" sz="1150"/>
          </a:p>
        </p:txBody>
      </p:sp>
      <p:sp>
        <p:nvSpPr>
          <p:cNvPr id="2117287088" name="Shape 11"/>
          <p:cNvSpPr/>
          <p:nvPr/>
        </p:nvSpPr>
        <p:spPr bwMode="auto">
          <a:xfrm>
            <a:off x="566928" y="4919471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21705162" name="Text 12"/>
          <p:cNvSpPr/>
          <p:nvPr/>
        </p:nvSpPr>
        <p:spPr bwMode="auto">
          <a:xfrm>
            <a:off x="566928" y="49194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3</a:t>
            </a:r>
            <a:endParaRPr lang="en-US" sz="1200"/>
          </a:p>
        </p:txBody>
      </p:sp>
      <p:sp>
        <p:nvSpPr>
          <p:cNvPr id="16852567" name="Text 13"/>
          <p:cNvSpPr/>
          <p:nvPr/>
        </p:nvSpPr>
        <p:spPr bwMode="auto">
          <a:xfrm>
            <a:off x="987552" y="490118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Automatically detect overdue assets &amp; notify</a:t>
            </a:r>
            <a:endParaRPr lang="en-US" sz="1150"/>
          </a:p>
        </p:txBody>
      </p:sp>
      <p:sp>
        <p:nvSpPr>
          <p:cNvPr id="1050385904" name="Shape 14"/>
          <p:cNvSpPr/>
          <p:nvPr/>
        </p:nvSpPr>
        <p:spPr bwMode="auto">
          <a:xfrm>
            <a:off x="566928" y="5321808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32098784" name="Text 15"/>
          <p:cNvSpPr/>
          <p:nvPr/>
        </p:nvSpPr>
        <p:spPr bwMode="auto">
          <a:xfrm>
            <a:off x="566928" y="5321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4</a:t>
            </a:r>
            <a:endParaRPr lang="en-US" sz="1200"/>
          </a:p>
        </p:txBody>
      </p:sp>
      <p:sp>
        <p:nvSpPr>
          <p:cNvPr id="1562517156" name="Text 16"/>
          <p:cNvSpPr/>
          <p:nvPr/>
        </p:nvSpPr>
        <p:spPr bwMode="auto">
          <a:xfrm>
            <a:off x="987552" y="530352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Help students discover relevant resources</a:t>
            </a:r>
            <a:endParaRPr lang="en-US" sz="1150"/>
          </a:p>
        </p:txBody>
      </p:sp>
      <p:sp>
        <p:nvSpPr>
          <p:cNvPr id="240900817" name="Shape 17"/>
          <p:cNvSpPr/>
          <p:nvPr/>
        </p:nvSpPr>
        <p:spPr bwMode="auto">
          <a:xfrm>
            <a:off x="566928" y="5724144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65413312" name="Text 18"/>
          <p:cNvSpPr/>
          <p:nvPr/>
        </p:nvSpPr>
        <p:spPr bwMode="auto">
          <a:xfrm>
            <a:off x="566928" y="5724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5</a:t>
            </a:r>
            <a:endParaRPr lang="en-US" sz="1200"/>
          </a:p>
        </p:txBody>
      </p:sp>
      <p:sp>
        <p:nvSpPr>
          <p:cNvPr id="747658890" name="Text 19"/>
          <p:cNvSpPr/>
          <p:nvPr/>
        </p:nvSpPr>
        <p:spPr bwMode="auto">
          <a:xfrm>
            <a:off x="987552" y="570585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Give administrators intelligent analytics</a:t>
            </a:r>
            <a:endParaRPr lang="en-US" sz="1150"/>
          </a:p>
        </p:txBody>
      </p:sp>
      <p:sp>
        <p:nvSpPr>
          <p:cNvPr id="330770398" name="Shape 20"/>
          <p:cNvSpPr/>
          <p:nvPr/>
        </p:nvSpPr>
        <p:spPr bwMode="auto">
          <a:xfrm>
            <a:off x="9281160" y="3566160"/>
            <a:ext cx="0" cy="0"/>
          </a:xfrm>
          <a:prstGeom prst="line">
            <a:avLst/>
          </a:prstGeom>
          <a:noFill/>
          <a:ln w="19050">
            <a:solidFill>
              <a:srgbClr val="B7C6D3"/>
            </a:solidFill>
            <a:prstDash val="solid"/>
          </a:ln>
        </p:spPr>
      </p:sp>
      <p:sp>
        <p:nvSpPr>
          <p:cNvPr id="775115161" name="Shape 21"/>
          <p:cNvSpPr/>
          <p:nvPr/>
        </p:nvSpPr>
        <p:spPr bwMode="auto">
          <a:xfrm>
            <a:off x="9281160" y="3566160"/>
            <a:ext cx="1623382" cy="0"/>
          </a:xfrm>
          <a:prstGeom prst="line">
            <a:avLst/>
          </a:prstGeom>
          <a:noFill/>
          <a:ln w="19050">
            <a:solidFill>
              <a:srgbClr val="B7C6D3"/>
            </a:solidFill>
            <a:prstDash val="solid"/>
          </a:ln>
        </p:spPr>
      </p:sp>
      <p:sp>
        <p:nvSpPr>
          <p:cNvPr id="1195098436" name="Shape 22"/>
          <p:cNvSpPr/>
          <p:nvPr/>
        </p:nvSpPr>
        <p:spPr bwMode="auto">
          <a:xfrm>
            <a:off x="9281160" y="3566160"/>
            <a:ext cx="1623382" cy="796671"/>
          </a:xfrm>
          <a:prstGeom prst="line">
            <a:avLst/>
          </a:prstGeom>
          <a:noFill/>
          <a:ln w="19050">
            <a:solidFill>
              <a:srgbClr val="B7C6D3"/>
            </a:solidFill>
            <a:prstDash val="solid"/>
          </a:ln>
        </p:spPr>
      </p:sp>
      <p:sp>
        <p:nvSpPr>
          <p:cNvPr id="845463530" name="Shape 23"/>
          <p:cNvSpPr/>
          <p:nvPr/>
        </p:nvSpPr>
        <p:spPr bwMode="auto">
          <a:xfrm>
            <a:off x="9281160" y="3566160"/>
            <a:ext cx="0" cy="1593342"/>
          </a:xfrm>
          <a:prstGeom prst="line">
            <a:avLst/>
          </a:prstGeom>
          <a:noFill/>
          <a:ln w="19050">
            <a:solidFill>
              <a:srgbClr val="B7C6D3"/>
            </a:solidFill>
            <a:prstDash val="solid"/>
          </a:ln>
        </p:spPr>
      </p:sp>
      <p:sp>
        <p:nvSpPr>
          <p:cNvPr id="194707352" name="Shape 24"/>
          <p:cNvSpPr/>
          <p:nvPr/>
        </p:nvSpPr>
        <p:spPr bwMode="auto">
          <a:xfrm>
            <a:off x="9281160" y="3566160"/>
            <a:ext cx="0" cy="796671"/>
          </a:xfrm>
          <a:prstGeom prst="line">
            <a:avLst/>
          </a:prstGeom>
          <a:noFill/>
          <a:ln w="19050">
            <a:solidFill>
              <a:srgbClr val="B7C6D3"/>
            </a:solidFill>
            <a:prstDash val="solid"/>
          </a:ln>
        </p:spPr>
      </p:sp>
      <p:sp>
        <p:nvSpPr>
          <p:cNvPr id="1229069759" name="Shape 25"/>
          <p:cNvSpPr/>
          <p:nvPr/>
        </p:nvSpPr>
        <p:spPr bwMode="auto">
          <a:xfrm>
            <a:off x="9281160" y="3566160"/>
            <a:ext cx="0" cy="0"/>
          </a:xfrm>
          <a:prstGeom prst="line">
            <a:avLst/>
          </a:prstGeom>
          <a:noFill/>
          <a:ln w="19050">
            <a:solidFill>
              <a:srgbClr val="B7C6D3"/>
            </a:solidFill>
            <a:prstDash val="solid"/>
          </a:ln>
        </p:spPr>
      </p:sp>
      <p:sp>
        <p:nvSpPr>
          <p:cNvPr id="13033817" name="Shape 26"/>
          <p:cNvSpPr/>
          <p:nvPr/>
        </p:nvSpPr>
        <p:spPr bwMode="auto">
          <a:xfrm>
            <a:off x="8595360" y="2880360"/>
            <a:ext cx="1371600" cy="1371600"/>
          </a:xfrm>
          <a:prstGeom prst="ellipse">
            <a:avLst/>
          </a:prstGeom>
          <a:solidFill>
            <a:srgbClr val="0B1F3A"/>
          </a:solidFill>
          <a:ln/>
          <a:effectLst>
            <a:outerShdw blurRad="101600" dist="25400" dir="5400000" sx="100000" sy="100000" kx="0" ky="0" algn="bl" rotWithShape="0">
              <a:srgbClr val="000000">
                <a:alpha val="25000"/>
              </a:srgbClr>
            </a:outerShdw>
          </a:effectLst>
        </p:spPr>
      </p:sp>
      <p:pic>
        <p:nvPicPr>
          <p:cNvPr id="1023924346" name="Image 0" descr="/home/claude/proj/icons/database_tea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025128" y="3182112"/>
            <a:ext cx="512064" cy="512064"/>
          </a:xfrm>
          <a:prstGeom prst="rect">
            <a:avLst/>
          </a:prstGeom>
        </p:spPr>
      </p:pic>
      <p:sp>
        <p:nvSpPr>
          <p:cNvPr id="988770644" name="Text 27"/>
          <p:cNvSpPr/>
          <p:nvPr/>
        </p:nvSpPr>
        <p:spPr bwMode="auto">
          <a:xfrm>
            <a:off x="8595360" y="37124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Library</a:t>
            </a:r>
            <a:endParaRPr lang="en-US" sz="1050"/>
          </a:p>
          <a:p>
            <a:pPr marL="0" indent="0" algn="ctr">
              <a:lnSpc>
                <a:spcPct val="950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</a:t>
            </a:r>
            <a:endParaRPr lang="en-US" sz="1050"/>
          </a:p>
        </p:txBody>
      </p:sp>
      <p:sp>
        <p:nvSpPr>
          <p:cNvPr id="2126646633" name="Shape 28"/>
          <p:cNvSpPr/>
          <p:nvPr/>
        </p:nvSpPr>
        <p:spPr bwMode="auto">
          <a:xfrm>
            <a:off x="8823960" y="1515617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63500" dist="12700" dir="5400000" sx="100000" sy="100000" kx="0" ky="0" algn="bl" rotWithShape="0">
              <a:srgbClr val="000000">
                <a:alpha val="20000"/>
              </a:srgbClr>
            </a:outerShdw>
          </a:effectLst>
        </p:spPr>
      </p:sp>
      <p:pic>
        <p:nvPicPr>
          <p:cNvPr id="2134579126" name="Image 1" descr="/home/claude/proj/icons/userGraduate_navy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125712" y="1753362"/>
            <a:ext cx="310896" cy="310896"/>
          </a:xfrm>
          <a:prstGeom prst="rect">
            <a:avLst/>
          </a:prstGeom>
        </p:spPr>
      </p:pic>
      <p:sp>
        <p:nvSpPr>
          <p:cNvPr id="1010810525" name="Text 29"/>
          <p:cNvSpPr/>
          <p:nvPr/>
        </p:nvSpPr>
        <p:spPr bwMode="auto">
          <a:xfrm>
            <a:off x="8595360" y="209169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Students</a:t>
            </a:r>
            <a:endParaRPr lang="en-US" sz="950"/>
          </a:p>
        </p:txBody>
      </p:sp>
      <p:sp>
        <p:nvSpPr>
          <p:cNvPr id="1545306009" name="Shape 30"/>
          <p:cNvSpPr/>
          <p:nvPr/>
        </p:nvSpPr>
        <p:spPr bwMode="auto">
          <a:xfrm>
            <a:off x="10447342" y="2312289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63500" dist="12700" dir="5400000" sx="100000" sy="100000" kx="0" ky="0" algn="bl" rotWithShape="0">
              <a:srgbClr val="000000">
                <a:alpha val="20000"/>
              </a:srgbClr>
            </a:outerShdw>
          </a:effectLst>
        </p:spPr>
      </p:sp>
      <p:pic>
        <p:nvPicPr>
          <p:cNvPr id="1897445497" name="Image 2" descr="/home/claude/proj/icons/layers_navy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0749094" y="2550033"/>
            <a:ext cx="310896" cy="310896"/>
          </a:xfrm>
          <a:prstGeom prst="rect">
            <a:avLst/>
          </a:prstGeom>
        </p:spPr>
      </p:pic>
      <p:sp>
        <p:nvSpPr>
          <p:cNvPr id="1940915446" name="Text 31"/>
          <p:cNvSpPr/>
          <p:nvPr/>
        </p:nvSpPr>
        <p:spPr bwMode="auto">
          <a:xfrm>
            <a:off x="10218742" y="2888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Assets</a:t>
            </a:r>
            <a:endParaRPr lang="en-US" sz="950"/>
          </a:p>
        </p:txBody>
      </p:sp>
      <p:sp>
        <p:nvSpPr>
          <p:cNvPr id="1561195089" name="Shape 32"/>
          <p:cNvSpPr/>
          <p:nvPr/>
        </p:nvSpPr>
        <p:spPr bwMode="auto">
          <a:xfrm>
            <a:off x="10447342" y="3905631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63500" dist="12700" dir="5400000" sx="100000" sy="100000" kx="0" ky="0" algn="bl" rotWithShape="0">
              <a:srgbClr val="000000">
                <a:alpha val="20000"/>
              </a:srgbClr>
            </a:outerShdw>
          </a:effectLst>
        </p:spPr>
      </p:sp>
      <p:pic>
        <p:nvPicPr>
          <p:cNvPr id="264697123" name="Image 3" descr="/home/claude/proj/icons/clipboard_navy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749094" y="4143375"/>
            <a:ext cx="310896" cy="310896"/>
          </a:xfrm>
          <a:prstGeom prst="rect">
            <a:avLst/>
          </a:prstGeom>
        </p:spPr>
      </p:pic>
      <p:sp>
        <p:nvSpPr>
          <p:cNvPr id="1482354608" name="Text 33"/>
          <p:cNvSpPr/>
          <p:nvPr/>
        </p:nvSpPr>
        <p:spPr bwMode="auto">
          <a:xfrm>
            <a:off x="10218742" y="4481703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Borrowing</a:t>
            </a:r>
            <a:endParaRPr lang="en-US" sz="950"/>
          </a:p>
        </p:txBody>
      </p:sp>
      <p:sp>
        <p:nvSpPr>
          <p:cNvPr id="1857467657" name="Shape 34"/>
          <p:cNvSpPr/>
          <p:nvPr/>
        </p:nvSpPr>
        <p:spPr bwMode="auto">
          <a:xfrm>
            <a:off x="8823960" y="4702302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63500" dist="12700" dir="5400000" sx="100000" sy="100000" kx="0" ky="0" algn="bl" rotWithShape="0">
              <a:srgbClr val="000000">
                <a:alpha val="20000"/>
              </a:srgbClr>
            </a:outerShdw>
          </a:effectLst>
        </p:spPr>
      </p:sp>
      <p:pic>
        <p:nvPicPr>
          <p:cNvPr id="1856179816" name="Image 4" descr="/home/claude/proj/icons/alert_navy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9125712" y="4940046"/>
            <a:ext cx="310896" cy="310896"/>
          </a:xfrm>
          <a:prstGeom prst="rect">
            <a:avLst/>
          </a:prstGeom>
        </p:spPr>
      </p:pic>
      <p:sp>
        <p:nvSpPr>
          <p:cNvPr id="1063703502" name="Text 35"/>
          <p:cNvSpPr/>
          <p:nvPr/>
        </p:nvSpPr>
        <p:spPr bwMode="auto">
          <a:xfrm>
            <a:off x="8595360" y="527837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Fines</a:t>
            </a:r>
            <a:endParaRPr lang="en-US" sz="950"/>
          </a:p>
        </p:txBody>
      </p:sp>
      <p:sp>
        <p:nvSpPr>
          <p:cNvPr id="534021456" name="Shape 36"/>
          <p:cNvSpPr/>
          <p:nvPr/>
        </p:nvSpPr>
        <p:spPr bwMode="auto">
          <a:xfrm>
            <a:off x="7200578" y="3905631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63500" dist="12700" dir="5400000" sx="100000" sy="100000" kx="0" ky="0" algn="bl" rotWithShape="0">
              <a:srgbClr val="000000">
                <a:alpha val="20000"/>
              </a:srgbClr>
            </a:outerShdw>
          </a:effectLst>
        </p:spPr>
      </p:sp>
      <p:pic>
        <p:nvPicPr>
          <p:cNvPr id="399628078" name="Image 5" descr="/home/claude/proj/icons/bell_navy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7502330" y="4143375"/>
            <a:ext cx="310896" cy="310896"/>
          </a:xfrm>
          <a:prstGeom prst="rect">
            <a:avLst/>
          </a:prstGeom>
        </p:spPr>
      </p:pic>
      <p:sp>
        <p:nvSpPr>
          <p:cNvPr id="1140138930" name="Text 37"/>
          <p:cNvSpPr/>
          <p:nvPr/>
        </p:nvSpPr>
        <p:spPr bwMode="auto">
          <a:xfrm>
            <a:off x="6971978" y="4481703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Notifications</a:t>
            </a:r>
            <a:endParaRPr lang="en-US" sz="950"/>
          </a:p>
        </p:txBody>
      </p:sp>
      <p:sp>
        <p:nvSpPr>
          <p:cNvPr id="1084062267" name="Shape 38"/>
          <p:cNvSpPr/>
          <p:nvPr/>
        </p:nvSpPr>
        <p:spPr bwMode="auto">
          <a:xfrm>
            <a:off x="7200578" y="2312289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63500" dist="12700" dir="5400000" sx="100000" sy="100000" kx="0" ky="0" algn="bl" rotWithShape="0">
              <a:srgbClr val="000000">
                <a:alpha val="20000"/>
              </a:srgbClr>
            </a:outerShdw>
          </a:effectLst>
        </p:spPr>
      </p:sp>
      <p:pic>
        <p:nvPicPr>
          <p:cNvPr id="941998313" name="Image 6" descr="/home/claude/proj/icons/chart_navy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7502330" y="2550033"/>
            <a:ext cx="310896" cy="310896"/>
          </a:xfrm>
          <a:prstGeom prst="rect">
            <a:avLst/>
          </a:prstGeom>
        </p:spPr>
      </p:pic>
      <p:sp>
        <p:nvSpPr>
          <p:cNvPr id="1831515699" name="Text 39"/>
          <p:cNvSpPr/>
          <p:nvPr/>
        </p:nvSpPr>
        <p:spPr bwMode="auto">
          <a:xfrm>
            <a:off x="6971978" y="2888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Analytics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5F9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889578" name="Text 0"/>
          <p:cNvSpPr/>
          <p:nvPr/>
        </p:nvSpPr>
        <p:spPr bwMode="auto">
          <a:xfrm>
            <a:off x="502920" y="25603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Our Solution — Intelligent Multi-Agent Smart Library</a:t>
            </a:r>
            <a:endParaRPr lang="en-US" sz="2200"/>
          </a:p>
        </p:txBody>
      </p:sp>
      <p:sp>
        <p:nvSpPr>
          <p:cNvPr id="89818176" name="Text 1"/>
          <p:cNvSpPr/>
          <p:nvPr/>
        </p:nvSpPr>
        <p:spPr bwMode="auto">
          <a:xfrm>
            <a:off x="521208" y="6766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Three AI-powered agents, integrated into one full-stack system — not chatbots, but agents that call real application tools, APIs, and the database.</a:t>
            </a:r>
            <a:endParaRPr lang="en-US" sz="1050"/>
          </a:p>
        </p:txBody>
      </p:sp>
      <p:sp>
        <p:nvSpPr>
          <p:cNvPr id="2100003360" name="Shape 2"/>
          <p:cNvSpPr/>
          <p:nvPr/>
        </p:nvSpPr>
        <p:spPr bwMode="auto">
          <a:xfrm>
            <a:off x="502920" y="105156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030478067" name="Shape 3"/>
          <p:cNvSpPr/>
          <p:nvPr/>
        </p:nvSpPr>
        <p:spPr bwMode="auto">
          <a:xfrm>
            <a:off x="685800" y="1216151"/>
            <a:ext cx="438912" cy="43891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96802042" name="Image 0" descr="/home/claude/proj/icons/brain_tea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5528" y="1325880"/>
            <a:ext cx="219456" cy="219456"/>
          </a:xfrm>
          <a:prstGeom prst="rect">
            <a:avLst/>
          </a:prstGeom>
        </p:spPr>
      </p:pic>
      <p:sp>
        <p:nvSpPr>
          <p:cNvPr id="713344283" name="Text 4"/>
          <p:cNvSpPr/>
          <p:nvPr/>
        </p:nvSpPr>
        <p:spPr bwMode="auto">
          <a:xfrm>
            <a:off x="1216151" y="11887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  <a:defRPr/>
            </a:pPr>
            <a:r>
              <a:rPr lang="en-US"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Library Intelligence Agent</a:t>
            </a:r>
            <a:endParaRPr lang="en-US" sz="1250"/>
          </a:p>
        </p:txBody>
      </p:sp>
      <p:sp>
        <p:nvSpPr>
          <p:cNvPr id="1914197506" name="Text 5"/>
          <p:cNvSpPr/>
          <p:nvPr/>
        </p:nvSpPr>
        <p:spPr bwMode="auto">
          <a:xfrm>
            <a:off x="1216151" y="14721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 b="1" spc="5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STUDENT + ADMIN FACING</a:t>
            </a:r>
            <a:endParaRPr lang="en-US" sz="800"/>
          </a:p>
        </p:txBody>
      </p:sp>
      <p:sp>
        <p:nvSpPr>
          <p:cNvPr id="1328323268" name="Text 6"/>
          <p:cNvSpPr/>
          <p:nvPr/>
        </p:nvSpPr>
        <p:spPr bwMode="auto">
          <a:xfrm>
            <a:off x="704088" y="1764792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Natural-language queries</a:t>
            </a:r>
            <a:endParaRPr lang="en-US" sz="95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Smart resource search &amp; recommendations</a:t>
            </a:r>
            <a:endParaRPr lang="en-US" sz="95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Analytics, insights &amp; report generation</a:t>
            </a:r>
            <a:endParaRPr lang="en-US" sz="950"/>
          </a:p>
        </p:txBody>
      </p:sp>
      <p:sp>
        <p:nvSpPr>
          <p:cNvPr id="696732971" name="Shape 7"/>
          <p:cNvSpPr/>
          <p:nvPr/>
        </p:nvSpPr>
        <p:spPr bwMode="auto">
          <a:xfrm>
            <a:off x="704088" y="2359152"/>
            <a:ext cx="3209544" cy="292608"/>
          </a:xfrm>
          <a:prstGeom prst="rect">
            <a:avLst/>
          </a:prstGeom>
          <a:solidFill>
            <a:srgbClr val="CFE8F3"/>
          </a:solidFill>
          <a:ln/>
        </p:spPr>
      </p:sp>
      <p:sp>
        <p:nvSpPr>
          <p:cNvPr id="820407452" name="Text 8"/>
          <p:cNvSpPr/>
          <p:nvPr/>
        </p:nvSpPr>
        <p:spPr bwMode="auto">
          <a:xfrm>
            <a:off x="777240" y="23591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i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"Recommend an available beginner-level ML book"</a:t>
            </a:r>
            <a:endParaRPr lang="en-US" sz="850"/>
          </a:p>
        </p:txBody>
      </p:sp>
      <p:sp>
        <p:nvSpPr>
          <p:cNvPr id="451692000" name="Shape 9"/>
          <p:cNvSpPr/>
          <p:nvPr/>
        </p:nvSpPr>
        <p:spPr bwMode="auto">
          <a:xfrm>
            <a:off x="4334256" y="105156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647976507" name="Shape 10"/>
          <p:cNvSpPr/>
          <p:nvPr/>
        </p:nvSpPr>
        <p:spPr bwMode="auto">
          <a:xfrm>
            <a:off x="4517136" y="1216151"/>
            <a:ext cx="438912" cy="43891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023714235" name="Image 1" descr="/home/claude/proj/icons/upload_teal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626864" y="1325880"/>
            <a:ext cx="219456" cy="219456"/>
          </a:xfrm>
          <a:prstGeom prst="rect">
            <a:avLst/>
          </a:prstGeom>
        </p:spPr>
      </p:pic>
      <p:sp>
        <p:nvSpPr>
          <p:cNvPr id="1820626527" name="Text 11"/>
          <p:cNvSpPr/>
          <p:nvPr/>
        </p:nvSpPr>
        <p:spPr bwMode="auto">
          <a:xfrm>
            <a:off x="5047488" y="11887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  <a:defRPr/>
            </a:pPr>
            <a:r>
              <a:rPr lang="en-US"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Student Onboarding Agent</a:t>
            </a:r>
            <a:endParaRPr lang="en-US" sz="1250"/>
          </a:p>
        </p:txBody>
      </p:sp>
      <p:sp>
        <p:nvSpPr>
          <p:cNvPr id="1664022958" name="Text 12"/>
          <p:cNvSpPr/>
          <p:nvPr/>
        </p:nvSpPr>
        <p:spPr bwMode="auto">
          <a:xfrm>
            <a:off x="5047488" y="14721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 b="1" spc="5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ADMINISTRATIVE WORKFLOW</a:t>
            </a:r>
            <a:endParaRPr lang="en-US" sz="800"/>
          </a:p>
        </p:txBody>
      </p:sp>
      <p:sp>
        <p:nvSpPr>
          <p:cNvPr id="1924405757" name="Text 13"/>
          <p:cNvSpPr/>
          <p:nvPr/>
        </p:nvSpPr>
        <p:spPr bwMode="auto">
          <a:xfrm>
            <a:off x="4535424" y="1764792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Upload &amp; map freshers/student lists</a:t>
            </a:r>
            <a:endParaRPr lang="en-US" sz="95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Validate records, detect duplicates</a:t>
            </a:r>
            <a:endParaRPr lang="en-US" sz="95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Insert valid records + import summary</a:t>
            </a:r>
            <a:endParaRPr lang="en-US" sz="950"/>
          </a:p>
        </p:txBody>
      </p:sp>
      <p:sp>
        <p:nvSpPr>
          <p:cNvPr id="126146659" name="Shape 14"/>
          <p:cNvSpPr/>
          <p:nvPr/>
        </p:nvSpPr>
        <p:spPr bwMode="auto">
          <a:xfrm>
            <a:off x="4535424" y="2359152"/>
            <a:ext cx="3209544" cy="292608"/>
          </a:xfrm>
          <a:prstGeom prst="rect">
            <a:avLst/>
          </a:prstGeom>
          <a:solidFill>
            <a:srgbClr val="CFE8F3"/>
          </a:solidFill>
          <a:ln/>
        </p:spPr>
      </p:sp>
      <p:sp>
        <p:nvSpPr>
          <p:cNvPr id="924302050" name="Text 15"/>
          <p:cNvSpPr/>
          <p:nvPr/>
        </p:nvSpPr>
        <p:spPr bwMode="auto">
          <a:xfrm>
            <a:off x="4608576" y="23591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i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500 records → 486 valid → 9 dup → 5 issues</a:t>
            </a:r>
            <a:endParaRPr lang="en-US" sz="850"/>
          </a:p>
        </p:txBody>
      </p:sp>
      <p:sp>
        <p:nvSpPr>
          <p:cNvPr id="1574430654" name="Shape 16"/>
          <p:cNvSpPr/>
          <p:nvPr/>
        </p:nvSpPr>
        <p:spPr bwMode="auto">
          <a:xfrm>
            <a:off x="8165592" y="105156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752731586" name="Shape 17"/>
          <p:cNvSpPr/>
          <p:nvPr/>
        </p:nvSpPr>
        <p:spPr bwMode="auto">
          <a:xfrm>
            <a:off x="8348471" y="1216151"/>
            <a:ext cx="438912" cy="43891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8229126" name="Image 2" descr="/home/claude/proj/icons/bell_teal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458200" y="1325880"/>
            <a:ext cx="219456" cy="219456"/>
          </a:xfrm>
          <a:prstGeom prst="rect">
            <a:avLst/>
          </a:prstGeom>
        </p:spPr>
      </p:pic>
      <p:sp>
        <p:nvSpPr>
          <p:cNvPr id="712785231" name="Text 18"/>
          <p:cNvSpPr/>
          <p:nvPr/>
        </p:nvSpPr>
        <p:spPr bwMode="auto">
          <a:xfrm>
            <a:off x="8878824" y="11887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  <a:defRPr/>
            </a:pPr>
            <a:r>
              <a:rPr lang="en-US"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Monitoring &amp; Notification Agent</a:t>
            </a:r>
            <a:endParaRPr lang="en-US" sz="1250"/>
          </a:p>
        </p:txBody>
      </p:sp>
      <p:sp>
        <p:nvSpPr>
          <p:cNvPr id="207168925" name="Text 19"/>
          <p:cNvSpPr/>
          <p:nvPr/>
        </p:nvSpPr>
        <p:spPr bwMode="auto">
          <a:xfrm>
            <a:off x="8878824" y="14721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 b="1" spc="5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AUTONOMOUS BACKGROUND WORKFLOW</a:t>
            </a:r>
            <a:endParaRPr lang="en-US" sz="800"/>
          </a:p>
        </p:txBody>
      </p:sp>
      <p:sp>
        <p:nvSpPr>
          <p:cNvPr id="970084937" name="Text 20"/>
          <p:cNvSpPr/>
          <p:nvPr/>
        </p:nvSpPr>
        <p:spPr bwMode="auto">
          <a:xfrm>
            <a:off x="8366760" y="1764792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Monitor due dates, detect overdue assets</a:t>
            </a:r>
            <a:endParaRPr lang="en-US" sz="95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Trigger fine workflows &amp; reminders</a:t>
            </a:r>
            <a:endParaRPr lang="en-US" sz="950"/>
          </a:p>
          <a:p>
            <a:pPr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  <a:defRPr/>
            </a:pPr>
            <a:r>
              <a:rPr lang="en-US" sz="9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Send alerts, flag events for admins</a:t>
            </a:r>
            <a:endParaRPr lang="en-US" sz="950"/>
          </a:p>
        </p:txBody>
      </p:sp>
      <p:sp>
        <p:nvSpPr>
          <p:cNvPr id="179632696" name="Shape 21"/>
          <p:cNvSpPr/>
          <p:nvPr/>
        </p:nvSpPr>
        <p:spPr bwMode="auto">
          <a:xfrm>
            <a:off x="8366760" y="2359152"/>
            <a:ext cx="3209544" cy="292608"/>
          </a:xfrm>
          <a:prstGeom prst="rect">
            <a:avLst/>
          </a:prstGeom>
          <a:solidFill>
            <a:srgbClr val="CFE8F3"/>
          </a:solidFill>
          <a:ln/>
        </p:spPr>
      </p:sp>
      <p:sp>
        <p:nvSpPr>
          <p:cNvPr id="1077447130" name="Text 22"/>
          <p:cNvSpPr/>
          <p:nvPr/>
        </p:nvSpPr>
        <p:spPr bwMode="auto">
          <a:xfrm>
            <a:off x="8439912" y="23591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i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Due Soon → Reminder → Overdue → Fine → Alert</a:t>
            </a:r>
            <a:endParaRPr lang="en-US" sz="850"/>
          </a:p>
        </p:txBody>
      </p:sp>
      <p:sp>
        <p:nvSpPr>
          <p:cNvPr id="726486918" name="Text 23"/>
          <p:cNvSpPr/>
          <p:nvPr/>
        </p:nvSpPr>
        <p:spPr bwMode="auto">
          <a:xfrm>
            <a:off x="502920" y="29992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FULL-STACK ARCHITECTURE</a:t>
            </a:r>
            <a:endParaRPr lang="en-US" sz="1100"/>
          </a:p>
        </p:txBody>
      </p:sp>
      <p:sp>
        <p:nvSpPr>
          <p:cNvPr id="1078018988" name="Shape 24"/>
          <p:cNvSpPr/>
          <p:nvPr/>
        </p:nvSpPr>
        <p:spPr bwMode="auto">
          <a:xfrm>
            <a:off x="502920" y="3291840"/>
            <a:ext cx="5623560" cy="384048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415844673" name="Image 3" descr="/home/claude/proj/icons/desktop_teal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58368" y="3364992"/>
            <a:ext cx="237744" cy="237744"/>
          </a:xfrm>
          <a:prstGeom prst="rect">
            <a:avLst/>
          </a:prstGeom>
        </p:spPr>
      </p:pic>
      <p:sp>
        <p:nvSpPr>
          <p:cNvPr id="1302237887" name="Text 25"/>
          <p:cNvSpPr/>
          <p:nvPr/>
        </p:nvSpPr>
        <p:spPr bwMode="auto">
          <a:xfrm>
            <a:off x="1005840" y="32918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Student / Admin Web Dashboard</a:t>
            </a:r>
            <a:endParaRPr lang="en-US" sz="1050"/>
          </a:p>
        </p:txBody>
      </p:sp>
      <p:sp>
        <p:nvSpPr>
          <p:cNvPr id="2025259041" name="Text 26"/>
          <p:cNvSpPr/>
          <p:nvPr/>
        </p:nvSpPr>
        <p:spPr bwMode="auto">
          <a:xfrm>
            <a:off x="502920" y="3657600"/>
            <a:ext cx="5623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00B4D8"/>
                </a:solidFill>
              </a:rPr>
              <a:t>↓</a:t>
            </a:r>
            <a:endParaRPr lang="en-US" sz="1000"/>
          </a:p>
        </p:txBody>
      </p:sp>
      <p:sp>
        <p:nvSpPr>
          <p:cNvPr id="1729597153" name="Shape 27"/>
          <p:cNvSpPr/>
          <p:nvPr/>
        </p:nvSpPr>
        <p:spPr bwMode="auto">
          <a:xfrm>
            <a:off x="502920" y="3803904"/>
            <a:ext cx="5623560" cy="384048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68495500" name="Image 4" descr="/home/claude/proj/icons/server_teal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58368" y="3877056"/>
            <a:ext cx="237744" cy="237744"/>
          </a:xfrm>
          <a:prstGeom prst="rect">
            <a:avLst/>
          </a:prstGeom>
        </p:spPr>
      </p:pic>
      <p:sp>
        <p:nvSpPr>
          <p:cNvPr id="1406899283" name="Text 28"/>
          <p:cNvSpPr/>
          <p:nvPr/>
        </p:nvSpPr>
        <p:spPr bwMode="auto">
          <a:xfrm>
            <a:off x="1005840" y="380390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Frontend + Backend APIs</a:t>
            </a:r>
            <a:endParaRPr lang="en-US" sz="1050"/>
          </a:p>
        </p:txBody>
      </p:sp>
      <p:sp>
        <p:nvSpPr>
          <p:cNvPr id="861111027" name="Text 29"/>
          <p:cNvSpPr/>
          <p:nvPr/>
        </p:nvSpPr>
        <p:spPr bwMode="auto">
          <a:xfrm>
            <a:off x="502920" y="4169664"/>
            <a:ext cx="5623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00B4D8"/>
                </a:solidFill>
              </a:rPr>
              <a:t>↓</a:t>
            </a:r>
            <a:endParaRPr lang="en-US" sz="1000"/>
          </a:p>
        </p:txBody>
      </p:sp>
      <p:sp>
        <p:nvSpPr>
          <p:cNvPr id="2128482840" name="Shape 30"/>
          <p:cNvSpPr/>
          <p:nvPr/>
        </p:nvSpPr>
        <p:spPr bwMode="auto">
          <a:xfrm>
            <a:off x="502920" y="4315968"/>
            <a:ext cx="5623560" cy="384048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422309040" name="Image 5" descr="/home/claude/proj/icons/robot_teal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58368" y="4389120"/>
            <a:ext cx="237744" cy="237744"/>
          </a:xfrm>
          <a:prstGeom prst="rect">
            <a:avLst/>
          </a:prstGeom>
        </p:spPr>
      </p:pic>
      <p:sp>
        <p:nvSpPr>
          <p:cNvPr id="1341790353" name="Text 31"/>
          <p:cNvSpPr/>
          <p:nvPr/>
        </p:nvSpPr>
        <p:spPr bwMode="auto">
          <a:xfrm>
            <a:off x="1005840" y="431596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Agent Layer</a:t>
            </a:r>
            <a:endParaRPr lang="en-US" sz="1050"/>
          </a:p>
        </p:txBody>
      </p:sp>
      <p:sp>
        <p:nvSpPr>
          <p:cNvPr id="450703501" name="Text 32"/>
          <p:cNvSpPr/>
          <p:nvPr/>
        </p:nvSpPr>
        <p:spPr bwMode="auto">
          <a:xfrm>
            <a:off x="502920" y="4681728"/>
            <a:ext cx="5623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00B4D8"/>
                </a:solidFill>
              </a:rPr>
              <a:t>↓</a:t>
            </a:r>
            <a:endParaRPr lang="en-US" sz="1000"/>
          </a:p>
        </p:txBody>
      </p:sp>
      <p:sp>
        <p:nvSpPr>
          <p:cNvPr id="2101752311" name="Shape 33"/>
          <p:cNvSpPr/>
          <p:nvPr/>
        </p:nvSpPr>
        <p:spPr bwMode="auto">
          <a:xfrm>
            <a:off x="502920" y="4828032"/>
            <a:ext cx="5623560" cy="384048"/>
          </a:xfrm>
          <a:prstGeom prst="roundRect">
            <a:avLst>
              <a:gd name="adj" fmla="val 14286"/>
            </a:avLst>
          </a:prstGeom>
          <a:solidFill>
            <a:srgbClr val="0B1F3A"/>
          </a:solidFill>
          <a:ln/>
        </p:spPr>
      </p:sp>
      <p:pic>
        <p:nvPicPr>
          <p:cNvPr id="335710142" name="Image 6" descr="/home/claude/proj/icons/database_teal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658368" y="4901184"/>
            <a:ext cx="237744" cy="237744"/>
          </a:xfrm>
          <a:prstGeom prst="rect">
            <a:avLst/>
          </a:prstGeom>
        </p:spPr>
      </p:pic>
      <p:sp>
        <p:nvSpPr>
          <p:cNvPr id="505197289" name="Text 34"/>
          <p:cNvSpPr/>
          <p:nvPr/>
        </p:nvSpPr>
        <p:spPr bwMode="auto">
          <a:xfrm>
            <a:off x="1005840" y="482803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MySQL Database</a:t>
            </a:r>
            <a:endParaRPr lang="en-US" sz="1050"/>
          </a:p>
        </p:txBody>
      </p:sp>
      <p:sp>
        <p:nvSpPr>
          <p:cNvPr id="344795680" name="Shape 35"/>
          <p:cNvSpPr/>
          <p:nvPr/>
        </p:nvSpPr>
        <p:spPr bwMode="auto">
          <a:xfrm>
            <a:off x="502920" y="5239512"/>
            <a:ext cx="5623560" cy="365760"/>
          </a:xfrm>
          <a:prstGeom prst="roundRect">
            <a:avLst>
              <a:gd name="adj" fmla="val 15000"/>
            </a:avLst>
          </a:prstGeom>
          <a:solidFill>
            <a:srgbClr val="CFE8F3"/>
          </a:solidFill>
          <a:ln/>
        </p:spPr>
      </p:sp>
      <p:sp>
        <p:nvSpPr>
          <p:cNvPr id="493326216" name="Text 36"/>
          <p:cNvSpPr/>
          <p:nvPr/>
        </p:nvSpPr>
        <p:spPr bwMode="auto">
          <a:xfrm>
            <a:off x="621792" y="5239512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DBMS: Students · Employees · Assets · Books · Software · Machinery · Issuing · Fines</a:t>
            </a:r>
            <a:endParaRPr lang="en-US" sz="800"/>
          </a:p>
        </p:txBody>
      </p:sp>
      <p:sp>
        <p:nvSpPr>
          <p:cNvPr id="30475939" name="Text 37"/>
          <p:cNvSpPr/>
          <p:nvPr/>
        </p:nvSpPr>
        <p:spPr bwMode="auto">
          <a:xfrm>
            <a:off x="6446520" y="29992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DASHBOARDS</a:t>
            </a:r>
            <a:endParaRPr lang="en-US" sz="1100"/>
          </a:p>
        </p:txBody>
      </p:sp>
      <p:sp>
        <p:nvSpPr>
          <p:cNvPr id="1506019277" name="Shape 38"/>
          <p:cNvSpPr/>
          <p:nvPr/>
        </p:nvSpPr>
        <p:spPr bwMode="auto">
          <a:xfrm>
            <a:off x="6446520" y="3310127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prstDash val="solid"/>
          </a:ln>
          <a:effectLst>
            <a:outerShdw blurRad="63500" dist="127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531017112" name="Shape 39"/>
          <p:cNvSpPr/>
          <p:nvPr/>
        </p:nvSpPr>
        <p:spPr bwMode="auto">
          <a:xfrm>
            <a:off x="6611112" y="3456432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48088515" name="Image 7" descr="/home/claude/proj/icons/userGraduate_teal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6711696" y="3557016"/>
            <a:ext cx="164592" cy="164592"/>
          </a:xfrm>
          <a:prstGeom prst="rect">
            <a:avLst/>
          </a:prstGeom>
        </p:spPr>
      </p:pic>
      <p:sp>
        <p:nvSpPr>
          <p:cNvPr id="1619655243" name="Text 40"/>
          <p:cNvSpPr/>
          <p:nvPr/>
        </p:nvSpPr>
        <p:spPr bwMode="auto">
          <a:xfrm>
            <a:off x="7104888" y="34015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Student Dashboard</a:t>
            </a:r>
            <a:endParaRPr lang="en-US" sz="1200"/>
          </a:p>
        </p:txBody>
      </p:sp>
      <p:sp>
        <p:nvSpPr>
          <p:cNvPr id="2132940711" name="Text 41"/>
          <p:cNvSpPr/>
          <p:nvPr/>
        </p:nvSpPr>
        <p:spPr bwMode="auto">
          <a:xfrm>
            <a:off x="7104888" y="36758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900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Search · Recommendations · Borrowed Assets · Fines · Notifications · AI Assistance</a:t>
            </a:r>
            <a:endParaRPr lang="en-US" sz="900"/>
          </a:p>
        </p:txBody>
      </p:sp>
      <p:sp>
        <p:nvSpPr>
          <p:cNvPr id="1130115543" name="Shape 42"/>
          <p:cNvSpPr/>
          <p:nvPr/>
        </p:nvSpPr>
        <p:spPr bwMode="auto">
          <a:xfrm>
            <a:off x="6446520" y="434340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prstDash val="solid"/>
          </a:ln>
          <a:effectLst>
            <a:outerShdw blurRad="63500" dist="127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41324624" name="Shape 43"/>
          <p:cNvSpPr/>
          <p:nvPr/>
        </p:nvSpPr>
        <p:spPr bwMode="auto">
          <a:xfrm>
            <a:off x="6611112" y="4489704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0356169" name="Image 8" descr="/home/claude/proj/icons/users_teal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6711696" y="4590288"/>
            <a:ext cx="164592" cy="164592"/>
          </a:xfrm>
          <a:prstGeom prst="rect">
            <a:avLst/>
          </a:prstGeom>
        </p:spPr>
      </p:pic>
      <p:sp>
        <p:nvSpPr>
          <p:cNvPr id="1615101785" name="Text 44"/>
          <p:cNvSpPr/>
          <p:nvPr/>
        </p:nvSpPr>
        <p:spPr bwMode="auto">
          <a:xfrm>
            <a:off x="7104888" y="44348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Admin Dashboard</a:t>
            </a:r>
            <a:endParaRPr lang="en-US" sz="1200"/>
          </a:p>
        </p:txBody>
      </p:sp>
      <p:sp>
        <p:nvSpPr>
          <p:cNvPr id="1757436947" name="Text 45"/>
          <p:cNvSpPr/>
          <p:nvPr/>
        </p:nvSpPr>
        <p:spPr bwMode="auto">
          <a:xfrm>
            <a:off x="7104888" y="4709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900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Student Mgmt · Asset Mgmt · Analytics · Reports · Notifications · AI Assistance</a:t>
            </a:r>
            <a:endParaRPr lang="en-US" sz="900"/>
          </a:p>
        </p:txBody>
      </p:sp>
      <p:sp>
        <p:nvSpPr>
          <p:cNvPr id="1438258868" name="Shape 46"/>
          <p:cNvSpPr/>
          <p:nvPr/>
        </p:nvSpPr>
        <p:spPr bwMode="auto">
          <a:xfrm>
            <a:off x="6446520" y="5394960"/>
            <a:ext cx="5212080" cy="603504"/>
          </a:xfrm>
          <a:prstGeom prst="roundRect">
            <a:avLst>
              <a:gd name="adj" fmla="val 12121"/>
            </a:avLst>
          </a:prstGeom>
          <a:solidFill>
            <a:srgbClr val="0B1F3A"/>
          </a:solidFill>
          <a:ln/>
        </p:spPr>
      </p:sp>
      <p:sp>
        <p:nvSpPr>
          <p:cNvPr id="1542002097" name="Text 47"/>
          <p:cNvSpPr/>
          <p:nvPr/>
        </p:nvSpPr>
        <p:spPr bwMode="auto">
          <a:xfrm>
            <a:off x="6647687" y="5394960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  <a:defRPr/>
            </a:pPr>
            <a:r>
              <a:rPr lang="en-US" sz="105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From a traditional DBMS → to a full-stack, proactive, AI-powered Smart Campus System.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2</cp:revision>
  <dcterms:created xsi:type="dcterms:W3CDTF">2026-08-11T13:01:22Z</dcterms:created>
  <dcterms:modified xsi:type="dcterms:W3CDTF">2026-08-26T05:27:36Z</dcterms:modified>
</cp:coreProperties>
</file>